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A9B3C9"/>
                </a:solidFill>
                <a:latin typeface="Segoe UI"/>
              </a:rPr>
              <a:t>BOGOTÁ DATAJAM EDICIÓN 5 · SEGURIDAD CIUDADANA CON ENFOQUE DE GÉNERO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463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Segoe UI"/>
              </a:rPr>
              <a:t>El miedo que no baja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9601200" cy="12801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0">
                <a:solidFill>
                  <a:srgbClr val="F0B04A"/>
                </a:solidFill>
                <a:latin typeface="Segoe UI"/>
              </a:rPr>
              <a:t>¿Por qué la inseguridad percibida no baja cuando el delito registrado sí, y en qué territorios debe intervenir primero el Distrito?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EDF1F8"/>
                </a:solidFill>
                <a:latin typeface="Segoe UI"/>
              </a:rPr>
              <a:t>Equipo #16 The data squad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EDF1F8"/>
                </a:solidFill>
                <a:latin typeface="Segoe UI"/>
              </a:rPr>
              <a:t>Rafael Estiven Londoño Camacho · Brandow Brusly León Rodríguez · Samuel Esteban Riveros Cubides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069"/>
                </a:solidFill>
                <a:latin typeface="Segoe U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0F1729"/>
                </a:solidFill>
                <a:latin typeface="Segoe UI"/>
              </a:rPr>
              <a:t>Bogotá registra menos delitos, pero no se siente más segura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El miedo que no baja · The data squad · DataJam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2004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2F63D6"/>
                </a:solidFill>
                <a:latin typeface="Segoe UI"/>
              </a:rPr>
              <a:t>LO QUE SE CUENTA · SCJ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320040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2F63D6"/>
                </a:solidFill>
                <a:latin typeface="Segoe UI"/>
              </a:rPr>
              <a:t>-65 %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320040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75069"/>
                </a:solidFill>
                <a:latin typeface="Segoe UI"/>
              </a:rPr>
              <a:t>hurto a personas, enero-agosto 2019 →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3192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69080"/>
            <a:ext cx="32004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A5300"/>
                </a:solidFill>
                <a:latin typeface="Segoe UI"/>
              </a:rPr>
              <a:t>LO QUE SE SIENTE · BIENAL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89120"/>
            <a:ext cx="320040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8A5300"/>
                </a:solidFill>
                <a:latin typeface="Segoe UI"/>
              </a:rPr>
              <a:t>74 %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03520"/>
            <a:ext cx="320040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75069"/>
                </a:solidFill>
                <a:latin typeface="Segoe UI"/>
              </a:rPr>
              <a:t>de los adultos califica a Bogotá como insegura</a:t>
            </a:r>
          </a:p>
        </p:txBody>
      </p:sp>
      <p:pic>
        <p:nvPicPr>
          <p:cNvPr id="14" name="Picture 13" descr="fig1_serie_deli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223760" cy="3883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069"/>
                </a:solidFill>
                <a:latin typeface="Segoe UI"/>
              </a:rPr>
              <a:t>DATOS Y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0F1729"/>
                </a:solidFill>
                <a:latin typeface="Segoe UI"/>
              </a:rPr>
              <a:t>Siete fuentes, una llave territorial y una escalera analítica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El miedo que no baja · The data squad · DataJam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120640" cy="71323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47548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2F63D6"/>
                </a:solidFill>
                <a:latin typeface="Segoe UI"/>
              </a:rPr>
              <a:t>SCJ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069"/>
                </a:solidFill>
                <a:latin typeface="Segoe UI"/>
              </a:rPr>
              <a:t>Delitos de alto impacto 2018-2026 y llamadas a la Línea 123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78608"/>
            <a:ext cx="5120640" cy="71323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47548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2F63D6"/>
                </a:solidFill>
                <a:latin typeface="Segoe UI"/>
              </a:rPr>
              <a:t>SDP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79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069"/>
                </a:solidFill>
                <a:latin typeface="Segoe UI"/>
              </a:rPr>
              <a:t>Proyecciones de población 2005-2035 (tasas por 100.000)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19856"/>
            <a:ext cx="5120640" cy="71323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93008"/>
            <a:ext cx="47548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D98A0B"/>
                </a:solidFill>
                <a:latin typeface="Segoe UI"/>
              </a:rPr>
              <a:t>SCRD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6732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069"/>
                </a:solidFill>
                <a:latin typeface="Segoe UI"/>
              </a:rPr>
              <a:t>Bienal de Cultura Ciudadana 2025 · 5.538 adultos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61104"/>
            <a:ext cx="5120640" cy="71323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34256"/>
            <a:ext cx="47548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D98A0B"/>
                </a:solidFill>
                <a:latin typeface="Segoe UI"/>
              </a:rPr>
              <a:t>EMV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08576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069"/>
                </a:solidFill>
                <a:latin typeface="Segoe UI"/>
              </a:rPr>
              <a:t>Encuesta Mundial de Valores 2024 · 1.824 en Bogotá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02352"/>
            <a:ext cx="5120640" cy="71323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75504"/>
            <a:ext cx="47548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2F63D6"/>
                </a:solidFill>
                <a:latin typeface="Segoe UI"/>
              </a:rPr>
              <a:t>UAESP · DADEP · IDECA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449824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069"/>
                </a:solidFill>
                <a:latin typeface="Segoe UI"/>
              </a:rPr>
              <a:t>Alumbrado, espacio público y límites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D98A0B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755648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F1729"/>
                </a:solidFill>
                <a:latin typeface="Segoe UI"/>
              </a:rPr>
              <a:t>Descriptivo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121408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Series ene-ago, tasas, % ponderados con error estándar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78892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D98A0B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807208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F1729"/>
                </a:solidFill>
                <a:latin typeface="Segoe UI"/>
              </a:rPr>
              <a:t>Diagnóstico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172968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Logit ponderado, efectos marginales, IC por bootstrap de localidades, efectos fijos, wild bootstrap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840479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D98A0B"/>
                </a:solidFill>
                <a:latin typeface="Segoe U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858767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F1729"/>
                </a:solidFill>
                <a:latin typeface="Segoe UI"/>
              </a:rPr>
              <a:t>Predictivo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224527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AUC fuera de muestra por bloques de variables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920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D98A0B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910327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F1729"/>
                </a:solidFill>
                <a:latin typeface="Segoe UI"/>
              </a:rPr>
              <a:t>Prescriptivo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276088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Índice de Brecha con incertidumbre y simulación de escenarios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069"/>
                </a:solidFill>
                <a:latin typeface="Segoe UI"/>
              </a:rPr>
              <a:t>HALLAZGO 1 · CIFRA OCULTA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0F1729"/>
                </a:solidFill>
                <a:latin typeface="Segoe UI"/>
              </a:rPr>
              <a:t>Donde hay más miedo que delito, el delito no se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El miedo que no baja · The data squad · DataJam 5</a:t>
            </a:r>
          </a:p>
        </p:txBody>
      </p:sp>
      <p:pic>
        <p:nvPicPr>
          <p:cNvPr id="6" name="Picture 5" descr="fig5_brecha_vs_cifra_ocu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42511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737360"/>
            <a:ext cx="3931920" cy="10972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8A5300"/>
                </a:solidFill>
                <a:latin typeface="Segoe UI"/>
              </a:rPr>
              <a:t>5,6 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743200"/>
            <a:ext cx="3931920" cy="34747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75069"/>
                </a:solidFill>
                <a:latin typeface="Segoe UI"/>
              </a:rPr>
              <a:t>víctimas por cada delito de alto impacto registrado en Bogotá.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75069"/>
                </a:solidFill>
                <a:latin typeface="Segoe UI"/>
              </a:rPr>
              <a:t>Bosa: 10,6 · Los Mártires: 0,7.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75069"/>
                </a:solidFill>
                <a:latin typeface="Segoe UI"/>
              </a:rPr>
              <a:t>Índice de Brecha frente a cifra oculta: ρ = 0,72 (IC 95 % 0,41 a 0,88; p ajustado 0,004).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75069"/>
                </a:solidFill>
                <a:latin typeface="Segoe UI"/>
              </a:rPr>
              <a:t>El miedo de la periferia no es exagerado: es delito que no llega a las cifras.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069"/>
                </a:solidFill>
                <a:latin typeface="Segoe UI"/>
              </a:rPr>
              <a:t>HALLAZGO 2 · ENTORNO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0F1729"/>
                </a:solidFill>
                <a:latin typeface="Segoe UI"/>
              </a:rPr>
              <a:t>El barrio se siente por su entorno, no por el hurto registrado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El miedo que no baja · The data squad · DataJam 5</a:t>
            </a:r>
          </a:p>
        </p:txBody>
      </p:sp>
      <p:pic>
        <p:nvPicPr>
          <p:cNvPr id="6" name="Picture 5" descr="fig3_efectos_marg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223760" cy="3775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1737360"/>
            <a:ext cx="365760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600" b="1">
                <a:solidFill>
                  <a:srgbClr val="8A5300"/>
                </a:solidFill>
                <a:latin typeface="Segoe UI"/>
              </a:rPr>
              <a:t>+13,3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606040"/>
            <a:ext cx="36576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75069"/>
                </a:solidFill>
                <a:latin typeface="Segoe UI"/>
              </a:rPr>
              <a:t>si hay atracos en el parque más cercano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3291840"/>
            <a:ext cx="3657600" cy="2926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F1729"/>
                </a:solidFill>
                <a:latin typeface="Segoe UI"/>
              </a:rPr>
              <a:t>AUC fuera de muestra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75069"/>
                </a:solidFill>
                <a:latin typeface="Segoe UI"/>
              </a:rPr>
              <a:t>Solo perfil: 0,609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75069"/>
                </a:solidFill>
                <a:latin typeface="Segoe UI"/>
              </a:rPr>
              <a:t>+ delito registrado: 0,611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75069"/>
                </a:solidFill>
                <a:latin typeface="Segoe UI"/>
              </a:rPr>
              <a:t>+ entorno: 0,655 · todo: 0,782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75069"/>
                </a:solidFill>
                <a:latin typeface="Segoe UI"/>
              </a:rPr>
              <a:t>Hurto de la localidad: wild bootstrap p = 0,92.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069"/>
                </a:solidFill>
                <a:latin typeface="Segoe UI"/>
              </a:rPr>
              <a:t>HALLAZGO 3 · ENFOQUE DE GÉNERO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0F1729"/>
                </a:solidFill>
                <a:latin typeface="Segoe UI"/>
              </a:rPr>
              <a:t>Las mujeres reportan menos delitos y recortan más su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El miedo que no baja · The data squad · DataJam 5</a:t>
            </a:r>
          </a:p>
        </p:txBody>
      </p:sp>
      <p:pic>
        <p:nvPicPr>
          <p:cNvPr id="6" name="Picture 5" descr="fig6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7040880" cy="2601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737360"/>
            <a:ext cx="3840480" cy="43891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F1729"/>
                </a:solidFill>
                <a:latin typeface="Segoe UI"/>
              </a:rPr>
              <a:t>A igual edad, estrato y victimización: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8E44C8"/>
                </a:solidFill>
                <a:latin typeface="Segoe UI"/>
              </a:rPr>
              <a:t>+18,0 pp</a:t>
            </a:r>
            <a:r>
              <a:rPr sz="1500" b="0">
                <a:solidFill>
                  <a:srgbClr val="475069"/>
                </a:solidFill>
                <a:latin typeface="Segoe UI"/>
              </a:rPr>
              <a:t> temor al acoso sexual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8E44C8"/>
                </a:solidFill>
                <a:latin typeface="Segoe UI"/>
              </a:rPr>
              <a:t>+9,3 pp</a:t>
            </a:r>
            <a:r>
              <a:rPr sz="1500" b="0">
                <a:solidFill>
                  <a:srgbClr val="475069"/>
                </a:solidFill>
                <a:latin typeface="Segoe UI"/>
              </a:rPr>
              <a:t> se siente insegura en su barrio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8E44C8"/>
                </a:solidFill>
                <a:latin typeface="Segoe UI"/>
              </a:rPr>
              <a:t>+6,5 pp</a:t>
            </a:r>
            <a:r>
              <a:rPr sz="1500" b="0">
                <a:solidFill>
                  <a:srgbClr val="475069"/>
                </a:solidFill>
                <a:latin typeface="Segoe UI"/>
              </a:rPr>
              <a:t> evita salir de noche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75069"/>
                </a:solidFill>
                <a:latin typeface="Segoe UI"/>
              </a:rPr>
              <a:t>Mientras el hurto cae, la violencia intrafamiliar sube 46,1 % y los delitos sexuales 45,4 % (2018-2026).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069"/>
                </a:solidFill>
                <a:latin typeface="Segoe UI"/>
              </a:rPr>
              <a:t>RECOMENDACIÓN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0F1729"/>
                </a:solidFill>
                <a:latin typeface="Segoe UI"/>
              </a:rPr>
              <a:t>Dónde intervenir primero y cómo medirlo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El miedo que no baja · The data squad · DataJam 5</a:t>
            </a:r>
          </a:p>
        </p:txBody>
      </p:sp>
      <p:pic>
        <p:nvPicPr>
          <p:cNvPr id="6" name="Picture 5" descr="fig7_indice_brec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934132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600200"/>
            <a:ext cx="5852160" cy="98755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69164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8A5300"/>
                </a:solidFill>
                <a:latin typeface="Segoe UI"/>
              </a:rPr>
              <a:t>Medir con victimización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039112"/>
            <a:ext cx="54864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Encuesta Distrital de Percepción por UPL junto al registro SCJ: corrige la asignación donde se subregistra.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15768"/>
            <a:ext cx="5852160" cy="98755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807208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8A5300"/>
                </a:solidFill>
                <a:latin typeface="Segoe UI"/>
              </a:rPr>
              <a:t>Entornos que se sienten seguros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154679"/>
            <a:ext cx="54864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Parques sin atracos, mediación vecinal y alumbrado en Usme, Ciudad Bolívar, Bosa, Kennedy y San Cristóbal.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831335"/>
            <a:ext cx="5852160" cy="98755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3922775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8A5300"/>
                </a:solidFill>
                <a:latin typeface="Segoe UI"/>
              </a:rPr>
              <a:t>Autonomía de las mujeres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270248"/>
            <a:ext cx="54864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«% que evita salir de noche, por sexo» como indicador de resultado.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946904"/>
            <a:ext cx="5852160" cy="98755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5038344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F63D6"/>
                </a:solidFill>
                <a:latin typeface="Segoe UI"/>
              </a:rPr>
              <a:t>Datos para evaluar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5385816"/>
            <a:ext cx="54864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75069"/>
                </a:solidFill>
                <a:latin typeface="Segoe UI"/>
              </a:rPr>
              <a:t>Alumbrado georreferenciado (el del portal es de 2019) y delitos por UPZ.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069"/>
                </a:solidFill>
                <a:latin typeface="Segoe UI"/>
              </a:rPr>
              <a:t>INDICADOR Y 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>
                <a:solidFill>
                  <a:srgbClr val="0F1729"/>
                </a:solidFill>
                <a:latin typeface="Segoe UI"/>
              </a:rPr>
              <a:t>Un indicador medible, comparable y con fuentes que ya existen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475069"/>
                </a:solidFill>
                <a:latin typeface="Segoe UI"/>
              </a:rPr>
              <a:t>El miedo que no baja · The data squad · DataJam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1729"/>
                </a:solidFill>
                <a:latin typeface="Segoe UI"/>
              </a:rPr>
              <a:t>Fórmula: </a:t>
            </a:r>
            <a:r>
              <a:rPr sz="1600" b="0">
                <a:solidFill>
                  <a:srgbClr val="475069"/>
                </a:solidFill>
                <a:latin typeface="Segoe UI"/>
              </a:rPr>
              <a:t>z(% que siente insegura su zona) − z(ln delitos de alto impacto por 100.000)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1729"/>
                </a:solidFill>
                <a:latin typeface="Segoe UI"/>
              </a:rPr>
              <a:t>Fuentes: </a:t>
            </a:r>
            <a:r>
              <a:rPr sz="1600" b="0">
                <a:solidFill>
                  <a:srgbClr val="475069"/>
                </a:solidFill>
                <a:latin typeface="Segoe UI"/>
              </a:rPr>
              <a:t>EDP o Bienal (percepción), SCJ (delito), SDP (población)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1729"/>
                </a:solidFill>
                <a:latin typeface="Segoe UI"/>
              </a:rPr>
              <a:t>Periodicidad: </a:t>
            </a:r>
            <a:r>
              <a:rPr sz="1600" b="0">
                <a:solidFill>
                  <a:srgbClr val="475069"/>
                </a:solidFill>
                <a:latin typeface="Segoe UI"/>
              </a:rPr>
              <a:t>semestral por sector de UPL, anual por localidad y UPL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1729"/>
                </a:solidFill>
                <a:latin typeface="Segoe UI"/>
              </a:rPr>
              <a:t>Línea base 2025: </a:t>
            </a:r>
            <a:r>
              <a:rPr sz="1600" b="0">
                <a:solidFill>
                  <a:srgbClr val="475069"/>
                </a:solidFill>
                <a:latin typeface="Segoe UI"/>
              </a:rPr>
              <a:t>48,4 % siente insegura su zona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1729"/>
                </a:solidFill>
                <a:latin typeface="Segoe UI"/>
              </a:rPr>
              <a:t>Simulador: </a:t>
            </a:r>
            <a:r>
              <a:rPr sz="1600" b="0">
                <a:solidFill>
                  <a:srgbClr val="475069"/>
                </a:solidFill>
                <a:latin typeface="Segoe UI"/>
              </a:rPr>
              <a:t>con la mitad de las zonas y parques mejorados, −7,4 pp en Bogotá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1729"/>
                </a:solidFill>
                <a:latin typeface="Segoe UI"/>
              </a:rPr>
              <a:t>Todo reproducible: </a:t>
            </a:r>
            <a:r>
              <a:rPr sz="1600" b="0">
                <a:solidFill>
                  <a:srgbClr val="475069"/>
                </a:solidFill>
                <a:latin typeface="Segoe UI"/>
              </a:rPr>
              <a:t>notebook, repositorio, Power BI y descargas CSV y GeoJSON</a:t>
            </a:r>
          </a:p>
        </p:txBody>
      </p:sp>
      <p:pic>
        <p:nvPicPr>
          <p:cNvPr id="7" name="Picture 6" descr="qr_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737360"/>
            <a:ext cx="27432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4572000"/>
            <a:ext cx="402336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75069"/>
                </a:solidFill>
                <a:latin typeface="Segoe UI"/>
              </a:rPr>
              <a:t>el-miedo-que-no-baja.vercel.app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75069"/>
                </a:solidFill>
                <a:latin typeface="Segoe UI"/>
              </a:rPr>
              <a:t>clave en el correo de entrega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