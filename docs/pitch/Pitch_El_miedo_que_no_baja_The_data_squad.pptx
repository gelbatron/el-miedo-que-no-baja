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Brandow: Somos The data squad. Nuestra pregunta es por qué la gente en Bogotá no se siente más segura aunque las cifras de delito bajan, y dónde debería actuar primero el Distrito. (0:00-0:20)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Brandow: Entre enero y agosto, el hurto a personas registrado cayó 65 % desde 2019. Pero el 74 % de los adultos dice que la ciudad es insegura. La política se planea con el registro y la gente vive otra cosa. Señalar que la violencia intrafamiliar y los delitos sexuales van en sentido contrario. (0:20-1:00)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Rafael: Integramos siete fuentes públicas y las unimos por el código de localidad, con tasas por 100.000 habitantes. Subimos la escalera completa: descripción, diagnóstico con un logit ponderado, predicción fuera de muestra y escenarios. (1:00-1:50)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Rafael: Por cada delito registrado hay unas 5,6 víctimas. En Bosa más de 10; en Los Mártires menos de 1. Donde hay más miedo que delito registrado, más delito queda sin registrar: correlación de 0,72, la única que sobrevive a la corrección por pruebas múltiples. El miedo de la periferia no es exagerado. (1:50-2:40)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Rafael: Ver atracos en el parque cercano suma 13,3 puntos; los conflictos vecinales, hasta 14,7. El hurto registrado no suma nada. Agregar el delito registrado no mejora la predicción (0,609 a 0,611); el entorno la sube a 0,78. (2:40-3:30)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Samuel: Las mujeres reportan menos delitos, pero a igual edad, estrato y victimización tienen 18,0 puntos más de temor al acoso sexual y 6,5 más de evitar salir de noche. El costo del miedo se paga en autonomía. (3:30-4:15)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Brandow: Cuatro recomendaciones, una frase cada una: medir con victimización por UPL; entornos que se sienten seguros en Usme, Ciudad Bolívar, Bosa, Kennedy, San Cristóbal; la autonomía de las mujeres como indicador; y publicar alumbrado georreferenciado y delitos por UPZ. (4:15-5:10)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Samuel: Proponemos el Índice de Brecha de Seguridad: se calcula cada semestre con fuentes que ya existen. Todo está en el visor (QR) y en el repositorio, reproducible de punta a punta. Si sobra tiempo, abrir el simulador. Cierre (Brandow): Bogotá ya produce los datos para cerrar esta brecha; solo hay que leerlos juntos. Gracias. (5:10-5:55)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0A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D98A"/>
                </a:solidFill>
                <a:latin typeface="Segoe UI"/>
              </a:rPr>
              <a:t>BOGOTÁ DATAJAM EDICIÓN 5 · SEGURIDAD CIUDADANA CON ENFOQUE DE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6800" b="0">
                <a:solidFill>
                  <a:srgbClr val="FFFFFF"/>
                </a:solidFill>
                <a:latin typeface="Segoe UI Black"/>
              </a:rPr>
              <a:t>El miedo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6800" b="0">
                <a:solidFill>
                  <a:srgbClr val="E9A924"/>
                </a:solidFill>
                <a:latin typeface="Segoe UI Black"/>
              </a:rPr>
              <a:t>que no baja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520440"/>
            <a:ext cx="1280160" cy="73152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9875520" cy="12801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Segoe UI"/>
              </a:rPr>
              <a:t>¿Por qué la inseguridad percibida no baja cuando el delito registrado sí, y en qué territorios debe intervenir primero el Distrito?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5156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Equipo #16 · The data squad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Rafael Estiven Londoño Camacho · Brandow Brusly León Rodríguez · Samuel Esteban Riveros Cubides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Bogotá registra menos delitos, pero no se siente más segura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2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356616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F4A9E"/>
                </a:solidFill>
                <a:latin typeface="Segoe UI"/>
              </a:rPr>
              <a:t>LO QUE SE CUENTA · SCJ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310896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000" b="0">
                <a:solidFill>
                  <a:srgbClr val="1F4A9E"/>
                </a:solidFill>
                <a:latin typeface="Segoe UI Black"/>
              </a:rPr>
              <a:t>−65 %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hurto a personas registrado, enero-agosto 2019 →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77639"/>
            <a:ext cx="3566160" cy="2148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3566160" cy="82296"/>
          </a:xfrm>
          <a:prstGeom prst="rect">
            <a:avLst/>
          </a:prstGeom>
          <a:solidFill>
            <a:srgbClr val="D99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78807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8A5A00"/>
                </a:solidFill>
                <a:latin typeface="Segoe UI"/>
              </a:rPr>
              <a:t>LO QUE SE SIENTE · BIENAL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840"/>
            <a:ext cx="310896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000" b="0">
                <a:solidFill>
                  <a:srgbClr val="8A5A00"/>
                </a:solidFill>
                <a:latin typeface="Segoe UI Black"/>
              </a:rPr>
              <a:t>74 %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310896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de los adultos califica a Bogotá como insegura</a:t>
            </a:r>
          </a:p>
        </p:txBody>
      </p:sp>
      <p:pic>
        <p:nvPicPr>
          <p:cNvPr id="18" name="Picture 17" descr="fig1_serie_deli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223760" cy="41667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DATOS Y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Siete fuentes, una llave territorial y una escalera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3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82296" cy="7315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6479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Segoe UI"/>
              </a:rPr>
              <a:t>SCJ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Delitos de alto impacto 2018-2026 y llamadas a la Línea 123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82296" cy="7315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Segoe UI"/>
              </a:rPr>
              <a:t>SDP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26079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Proyecciones de población 2005-2035 (tasas por 100.000)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2900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29000"/>
            <a:ext cx="82296" cy="731520"/>
          </a:xfrm>
          <a:prstGeom prst="rect">
            <a:avLst/>
          </a:prstGeom>
          <a:solidFill>
            <a:srgbClr val="D99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50215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Segoe UI"/>
              </a:rPr>
              <a:t>SCRD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94760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Bienal de Cultura Ciudadana 2025 · 5.538 adultos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79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297679"/>
            <a:ext cx="82296" cy="731520"/>
          </a:xfrm>
          <a:prstGeom prst="rect">
            <a:avLst/>
          </a:prstGeom>
          <a:solidFill>
            <a:srgbClr val="D99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370831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Segoe UI"/>
              </a:rPr>
              <a:t>EMV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63440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Encuesta Mundial de Valores 2024 · 1.824 en Bogotá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6636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166360"/>
            <a:ext cx="82296" cy="7315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Segoe UI"/>
              </a:rPr>
              <a:t>UAESP · DADEP · IDECA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32120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Alumbrado, espacio público y límites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0" y="1691640"/>
            <a:ext cx="548640" cy="54864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755648"/>
            <a:ext cx="548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E1E1E"/>
                </a:solidFill>
                <a:latin typeface="Segoe UI Black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1691640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Descriptivo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057400"/>
            <a:ext cx="475488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Series ene-ago, tasas por 100.000 y porcentajes ponderados con error estándar</a:t>
            </a:r>
          </a:p>
        </p:txBody>
      </p:sp>
      <p:sp>
        <p:nvSpPr>
          <p:cNvPr id="32" name="Oval 31"/>
          <p:cNvSpPr/>
          <p:nvPr/>
        </p:nvSpPr>
        <p:spPr>
          <a:xfrm>
            <a:off x="6217920" y="2770632"/>
            <a:ext cx="548640" cy="54864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2834640"/>
            <a:ext cx="548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E1E1E"/>
                </a:solidFill>
                <a:latin typeface="Segoe UI Black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770632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Diagnóstico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136392"/>
            <a:ext cx="475488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Logit ponderado, efectos marginales, IC por bootstrap de localidades, efectos fijos y wild bootstrap</a:t>
            </a:r>
          </a:p>
        </p:txBody>
      </p:sp>
      <p:sp>
        <p:nvSpPr>
          <p:cNvPr id="36" name="Oval 35"/>
          <p:cNvSpPr/>
          <p:nvPr/>
        </p:nvSpPr>
        <p:spPr>
          <a:xfrm>
            <a:off x="6217920" y="3849624"/>
            <a:ext cx="548640" cy="54864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3913632"/>
            <a:ext cx="548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E1E1E"/>
                </a:solidFill>
                <a:latin typeface="Segoe UI Black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849624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Predictivo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215384"/>
            <a:ext cx="475488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AUC fuera de muestra por bloques de variables</a:t>
            </a:r>
          </a:p>
        </p:txBody>
      </p:sp>
      <p:sp>
        <p:nvSpPr>
          <p:cNvPr id="40" name="Oval 39"/>
          <p:cNvSpPr/>
          <p:nvPr/>
        </p:nvSpPr>
        <p:spPr>
          <a:xfrm>
            <a:off x="6217920" y="4928616"/>
            <a:ext cx="548640" cy="54864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4992624"/>
            <a:ext cx="54864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E1E1E"/>
                </a:solidFill>
                <a:latin typeface="Segoe UI Black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928616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Prescriptivo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294376"/>
            <a:ext cx="4754880" cy="6858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Índice de Brecha con incertidumbre y simulación de escenarios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HALLAZGO 1 · CIFRA OCULTA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Donde hay más miedo que delito, el delito no se registra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4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pic>
        <p:nvPicPr>
          <p:cNvPr id="8" name="Picture 7" descr="fig5_brecha_vs_cifra_ocu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040880" cy="41908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818120" y="1645920"/>
            <a:ext cx="3886200" cy="4480560"/>
          </a:xfrm>
          <a:prstGeom prst="roundRect">
            <a:avLst>
              <a:gd name="adj" fmla="val 6000"/>
            </a:avLst>
          </a:prstGeom>
          <a:solidFill>
            <a:srgbClr val="AB0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828800"/>
            <a:ext cx="347472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FFD98A"/>
                </a:solidFill>
                <a:latin typeface="Segoe UI"/>
              </a:rPr>
              <a:t>CIFRA OCULTA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347472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000" b="0">
                <a:solidFill>
                  <a:srgbClr val="E9A924"/>
                </a:solidFill>
                <a:latin typeface="Segoe UI Black"/>
              </a:rPr>
              <a:t>5,6 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3154680"/>
            <a:ext cx="3429000" cy="29260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víctimas por cada delito de alto impacto registrado en Bogotá.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Bosa: 10,6 · Los Mártires: 0,7.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Segoe UI"/>
              </a:rPr>
              <a:t>Índice de Brecha frente a cifra oculta: Spearman 0,72 (IC 95 % 0,41 a 0,88; p ajustado 0,004).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HALLAZGO 2 · ENTORNO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El barrio se siente por su entorno, no por el hurto registrado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5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pic>
        <p:nvPicPr>
          <p:cNvPr id="8" name="Picture 7" descr="fig3_efectos_marg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315200" cy="404138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64592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92440" y="1645920"/>
            <a:ext cx="3611880" cy="82296"/>
          </a:xfrm>
          <a:prstGeom prst="rect">
            <a:avLst/>
          </a:prstGeom>
          <a:solidFill>
            <a:srgbClr val="D99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47088"/>
            <a:ext cx="315468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8A5A00"/>
                </a:solidFill>
                <a:latin typeface="Segoe UI"/>
              </a:rPr>
              <a:t>ATRACOS EN EL PARQUE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103120"/>
            <a:ext cx="315468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000" b="0">
                <a:solidFill>
                  <a:srgbClr val="8A5A00"/>
                </a:solidFill>
                <a:latin typeface="Segoe UI Black"/>
              </a:rPr>
              <a:t>+13,3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971799"/>
            <a:ext cx="315468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más probabilidad de sentir insegura la zona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39319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069080"/>
            <a:ext cx="3200400" cy="201168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Segoe UI"/>
              </a:rPr>
              <a:t>AUC fuera de muestra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B4B4B"/>
                </a:solidFill>
                <a:latin typeface="Segoe UI"/>
              </a:rPr>
              <a:t>Solo perfil: 0,609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1F4A9E"/>
                </a:solidFill>
                <a:latin typeface="Segoe UI"/>
              </a:rPr>
              <a:t>+ delito registrado: 0,611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8A5A00"/>
                </a:solidFill>
                <a:latin typeface="Segoe UI"/>
              </a:rPr>
              <a:t>+ entorno: 0,655 · todo: 0,782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B4B4B"/>
                </a:solidFill>
                <a:latin typeface="Segoe UI"/>
              </a:rPr>
              <a:t>Hurto de la localidad: wild bootstrap p = 0,92.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HALLAZGO 3 · ENFOQUE DE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Las mujeres reportan menos delitos y recortan más su vida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6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pic>
        <p:nvPicPr>
          <p:cNvPr id="8" name="Picture 7" descr="fig6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7132320" cy="27816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64592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1645920"/>
            <a:ext cx="3749039" cy="82296"/>
          </a:xfrm>
          <a:prstGeom prst="rect">
            <a:avLst/>
          </a:prstGeom>
          <a:solidFill>
            <a:srgbClr val="8E4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383280" cy="42062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1E1E1E"/>
                </a:solidFill>
                <a:latin typeface="Segoe UI"/>
              </a:rPr>
              <a:t>A igual edad, estrato y victimización: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0">
                <a:solidFill>
                  <a:srgbClr val="8E44C8"/>
                </a:solidFill>
                <a:latin typeface="Segoe UI Black"/>
              </a:rPr>
              <a:t>+18,0 pp</a:t>
            </a:r>
            <a:r>
              <a:rPr sz="1350" b="0">
                <a:solidFill>
                  <a:srgbClr val="4B4B4B"/>
                </a:solidFill>
                <a:latin typeface="Segoe UI"/>
              </a:rPr>
              <a:t>  temor al acoso sexual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0">
                <a:solidFill>
                  <a:srgbClr val="8E44C8"/>
                </a:solidFill>
                <a:latin typeface="Segoe UI Black"/>
              </a:rPr>
              <a:t>+9,3 pp</a:t>
            </a:r>
            <a:r>
              <a:rPr sz="1350" b="0">
                <a:solidFill>
                  <a:srgbClr val="4B4B4B"/>
                </a:solidFill>
                <a:latin typeface="Segoe UI"/>
              </a:rPr>
              <a:t>  insegura en su barrio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800" b="0">
                <a:solidFill>
                  <a:srgbClr val="8E44C8"/>
                </a:solidFill>
                <a:latin typeface="Segoe UI Black"/>
              </a:rPr>
              <a:t>+6,5 pp</a:t>
            </a:r>
            <a:r>
              <a:rPr sz="1350" b="0">
                <a:solidFill>
                  <a:srgbClr val="4B4B4B"/>
                </a:solidFill>
                <a:latin typeface="Segoe UI"/>
              </a:rPr>
              <a:t>  evita salir de noche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4B4B4B"/>
                </a:solidFill>
                <a:latin typeface="Segoe UI"/>
              </a:rPr>
              <a:t>Mientras el hurto cae, la violencia intrafamiliar sube 46,1 % y los delitos sexuales 45,4 % (2018-2026).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RECOMENDACIÓN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Dónde intervenir primero y cómo medirlo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7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pic>
        <p:nvPicPr>
          <p:cNvPr id="8" name="Picture 7" descr="fig7_indice_brec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5486400" cy="44284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72200" y="1600200"/>
            <a:ext cx="553212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27648" y="1847088"/>
            <a:ext cx="502920" cy="50292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7648" y="1892807"/>
            <a:ext cx="50292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Segoe UI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1691640"/>
            <a:ext cx="45720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F0A00"/>
                </a:solidFill>
                <a:latin typeface="Segoe UI"/>
              </a:rPr>
              <a:t>Medir con victimización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029967"/>
            <a:ext cx="45720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Encuesta Distrital de Percepción por UPL junto al registro SCJ: corrige la asignación donde se subregistra.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734056"/>
            <a:ext cx="553212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27648" y="2980944"/>
            <a:ext cx="502920" cy="50292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3026664"/>
            <a:ext cx="50292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Segoe UI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825496"/>
            <a:ext cx="45720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F0A00"/>
                </a:solidFill>
                <a:latin typeface="Segoe UI"/>
              </a:rPr>
              <a:t>Entornos que se sienten seguros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163824"/>
            <a:ext cx="45720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Parques sin atracos, mediación vecinal y alumbrado en Usme, Ciudad Bolívar, Bosa, Kennedy y San Cristóbal.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67912"/>
            <a:ext cx="553212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27648" y="4114800"/>
            <a:ext cx="502920" cy="50292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4160520"/>
            <a:ext cx="50292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Segoe UI Black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959352"/>
            <a:ext cx="45720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F0A00"/>
                </a:solidFill>
                <a:latin typeface="Segoe UI"/>
              </a:rPr>
              <a:t>Autonomía de las mujeres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297680"/>
            <a:ext cx="45720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«% que evita salir de noche, por sexo» como indicador de resultado.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5001768"/>
            <a:ext cx="5532120" cy="1005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7648" y="5248656"/>
            <a:ext cx="502920" cy="502920"/>
          </a:xfrm>
          <a:prstGeom prst="ellipse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5294376"/>
            <a:ext cx="50292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E1E1E"/>
                </a:solidFill>
                <a:latin typeface="Segoe UI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5093207"/>
            <a:ext cx="45720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F0A00"/>
                </a:solidFill>
                <a:latin typeface="Segoe UI"/>
              </a:rPr>
              <a:t>Datos para evaluar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5431536"/>
            <a:ext cx="45720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B4B4B"/>
                </a:solidFill>
                <a:latin typeface="Segoe UI"/>
              </a:rPr>
              <a:t>Alumbrado georreferenciado (el del portal es de 2019) y delitos por UPZ.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78020" cy="82296"/>
          </a:xfrm>
          <a:prstGeom prst="rect">
            <a:avLst/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020" y="0"/>
            <a:ext cx="3413674" cy="82296"/>
          </a:xfrm>
          <a:prstGeom prst="rect">
            <a:avLst/>
          </a:prstGeom>
          <a:solidFill>
            <a:srgbClr val="E9A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8229600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BF0A00"/>
                </a:solidFill>
                <a:latin typeface="Segoe UI"/>
              </a:rPr>
              <a:t>INDICADOR Y 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700" b="0">
                <a:solidFill>
                  <a:srgbClr val="BF0A00"/>
                </a:solidFill>
                <a:latin typeface="Segoe UI Black"/>
              </a:rPr>
              <a:t>Un indicador medible, comparable y con fuentes que ya existen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8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767676"/>
                </a:solidFill>
                <a:latin typeface="Segoe UI"/>
              </a:rPr>
              <a:t>El miedo que no baja · The data squad · Bogotá DataJam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6949440" cy="35661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Fórmula: </a:t>
            </a:r>
            <a:r>
              <a:rPr sz="1500" b="0">
                <a:solidFill>
                  <a:srgbClr val="4B4B4B"/>
                </a:solidFill>
                <a:latin typeface="Segoe UI"/>
              </a:rPr>
              <a:t>z(% que siente insegura su zona) − z(ln delitos de alto impacto por 100.000)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Fuentes: </a:t>
            </a:r>
            <a:r>
              <a:rPr sz="1500" b="0">
                <a:solidFill>
                  <a:srgbClr val="4B4B4B"/>
                </a:solidFill>
                <a:latin typeface="Segoe UI"/>
              </a:rPr>
              <a:t>EDP o Bienal (percepción), SCJ (delito), SDP (población)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Periodicidad: </a:t>
            </a:r>
            <a:r>
              <a:rPr sz="1500" b="0">
                <a:solidFill>
                  <a:srgbClr val="4B4B4B"/>
                </a:solidFill>
                <a:latin typeface="Segoe UI"/>
              </a:rPr>
              <a:t>semestral por sector de UPL, anual por localidad y UPL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Línea base 2025: </a:t>
            </a:r>
            <a:r>
              <a:rPr sz="1500" b="0">
                <a:solidFill>
                  <a:srgbClr val="4B4B4B"/>
                </a:solidFill>
                <a:latin typeface="Segoe UI"/>
              </a:rPr>
              <a:t>48,4 % siente insegura su zona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Simulador: </a:t>
            </a:r>
            <a:r>
              <a:rPr sz="1500" b="0">
                <a:solidFill>
                  <a:srgbClr val="4B4B4B"/>
                </a:solidFill>
                <a:latin typeface="Segoe UI"/>
              </a:rPr>
              <a:t>con la mitad de las zonas y parques mejorados, −7,4 pp en Bogotá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E1E1E"/>
                </a:solidFill>
                <a:latin typeface="Segoe UI"/>
              </a:rPr>
              <a:t>Todo reproducible: </a:t>
            </a:r>
            <a:r>
              <a:rPr sz="1500" b="0">
                <a:solidFill>
                  <a:srgbClr val="4B4B4B"/>
                </a:solidFill>
                <a:latin typeface="Segoe UI"/>
              </a:rPr>
              <a:t>notebook, repositorio, Power BI, Excel y descargas CSV y GeoJSON</a:t>
            </a:r>
          </a:p>
        </p:txBody>
      </p:sp>
      <p:pic>
        <p:nvPicPr>
          <p:cNvPr id="9" name="Picture 8" descr="qr_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4069080"/>
            <a:ext cx="420624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E1E1E"/>
                </a:solidFill>
                <a:latin typeface="Segoe UI"/>
              </a:rPr>
              <a:t>el-miedo-que-no-baja.vercel.app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B4B4B"/>
                </a:solidFill>
                <a:latin typeface="Segoe UI"/>
              </a:rPr>
              <a:t>clave en el correo de entrega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BF0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257800"/>
            <a:ext cx="10607040" cy="960120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Segoe UI Black"/>
              </a:rPr>
              <a:t>Bogotá ya produce los datos para cerrar esta brecha. </a:t>
            </a:r>
            <a:r>
              <a:rPr sz="2200" b="0">
                <a:solidFill>
                  <a:srgbClr val="E9A924"/>
                </a:solidFill>
                <a:latin typeface="Segoe UI Black"/>
              </a:rPr>
              <a:t>Hay que leerlos juntos.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